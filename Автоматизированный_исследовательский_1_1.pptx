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70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72" r:id="rId14"/>
    <p:sldId id="268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6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2197" y="16536"/>
            <a:ext cx="14632940" cy="145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5476" y="2705440"/>
            <a:ext cx="17341850" cy="527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7400" y="723900"/>
            <a:ext cx="14099803" cy="2335159"/>
          </a:xfrm>
        </p:spPr>
        <p:txBody>
          <a:bodyPr/>
          <a:lstStyle/>
          <a:p>
            <a:r>
              <a:rPr lang="ru-RU" dirty="0"/>
              <a:t>Автоматизированный исследовательский агент</a:t>
            </a:r>
            <a:endParaRPr lang="ru-RU" dirty="0"/>
          </a:p>
        </p:txBody>
      </p:sp>
      <p:sp>
        <p:nvSpPr>
          <p:cNvPr id="3" name="object 3"/>
          <p:cNvSpPr txBox="1"/>
          <p:nvPr/>
        </p:nvSpPr>
        <p:spPr>
          <a:xfrm>
            <a:off x="9601200" y="4533900"/>
            <a:ext cx="6923405" cy="167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 ученики 11А</a:t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Окунев Кирилл</a:t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Асташин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Дмитрий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051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47700"/>
            <a:ext cx="14632940" cy="1015663"/>
          </a:xfrm>
        </p:spPr>
        <p:txBody>
          <a:bodyPr/>
          <a:lstStyle/>
          <a:p>
            <a:r>
              <a:rPr lang="ru-RU" sz="6600" b="1" dirty="0" smtClean="0"/>
              <a:t>Содержание</a:t>
            </a:r>
            <a:endParaRPr lang="ru-RU" sz="6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384864" y="2628900"/>
            <a:ext cx="17667605" cy="5552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0" lvl="1" indent="-742950">
              <a:buFont typeface="+mj-lt"/>
              <a:buAutoNum type="arabicPeriod"/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цель.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тренды.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 проекта.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работы.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 и преимущества.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и ограничения.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конкурентов.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 развития.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реализации.</a:t>
            </a:r>
          </a:p>
          <a:p>
            <a:pPr marL="742950" lvl="1" indent="-742950">
              <a:buFont typeface="+mj-lt"/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Заключение.</a:t>
            </a:r>
          </a:p>
        </p:txBody>
      </p:sp>
    </p:spTree>
    <p:extLst>
      <p:ext uri="{BB962C8B-B14F-4D97-AF65-F5344CB8AC3E}">
        <p14:creationId xmlns:p14="http://schemas.microsoft.com/office/powerpoint/2010/main" val="105640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200400" y="419100"/>
            <a:ext cx="14632940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66285">
              <a:lnSpc>
                <a:spcPct val="100000"/>
              </a:lnSpc>
              <a:spcBef>
                <a:spcPts val="105"/>
              </a:spcBef>
            </a:pPr>
            <a:r>
              <a:rPr sz="6600" b="1" spc="45" dirty="0"/>
              <a:t>Проблема</a:t>
            </a:r>
            <a:r>
              <a:rPr sz="6600" b="1" spc="-235" dirty="0"/>
              <a:t> </a:t>
            </a:r>
            <a:r>
              <a:rPr sz="6600" b="1" spc="229" dirty="0"/>
              <a:t>и</a:t>
            </a:r>
            <a:r>
              <a:rPr sz="6600" b="1" spc="-235" dirty="0"/>
              <a:t> </a:t>
            </a:r>
            <a:r>
              <a:rPr sz="6600" b="1" spc="-20" dirty="0"/>
              <a:t>целъ</a:t>
            </a:r>
            <a:endParaRPr sz="6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2019300"/>
            <a:ext cx="15697200" cy="610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3600" dirty="0"/>
              <a:t>Современный учащийся сталкивается с информационным перегрузом: огромное число статей и данных усложняет самостоятельное изучение.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3600" dirty="0"/>
              <a:t>Ручной поиск и обобщение требуют много времени и дисциплины, что часто непросто для школьников.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3600" dirty="0"/>
              <a:t>Универсальные чат‑боты могут искажать факты при работе со специализированными текстами.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3600" dirty="0"/>
              <a:t>Сегодня отсутствуют простые решения, объединяющие поиск, анализ и доставку результатов в единую цепочку.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3600" b="1" dirty="0"/>
              <a:t>Цель проекта:</a:t>
            </a:r>
            <a:r>
              <a:rPr lang="ru-RU" sz="3600" dirty="0"/>
              <a:t> построить инструмент, который автоматизирует все этапы исследования, сокращая время и повышая качество.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6800" y="266700"/>
            <a:ext cx="14632940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ru-RU" sz="6600" b="1" dirty="0"/>
              <a:t>Актуальность и тренды</a:t>
            </a:r>
            <a:endParaRPr lang="ru-RU" sz="6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2095500"/>
            <a:ext cx="16939895" cy="5552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/>
            <a:r>
              <a:rPr lang="ru-RU" sz="3600" b="1" dirty="0"/>
              <a:t>Искусственный интеллект везде:</a:t>
            </a:r>
            <a:r>
              <a:rPr lang="ru-RU" sz="3600" dirty="0"/>
              <a:t> ассистенты и чат‑боты становятся частью повседневных дел и обучения.</a:t>
            </a:r>
          </a:p>
          <a:p>
            <a:pPr lvl="0"/>
            <a:r>
              <a:rPr lang="ru-RU" sz="3600" b="1" dirty="0"/>
              <a:t>Интернет вещей и умные города:</a:t>
            </a:r>
            <a:r>
              <a:rPr lang="ru-RU" sz="3600" dirty="0"/>
              <a:t> требуют автоматизированного анализа данных для повышения эффективности.</a:t>
            </a:r>
          </a:p>
          <a:p>
            <a:pPr lvl="0"/>
            <a:r>
              <a:rPr lang="ru-RU" sz="3600" b="1" dirty="0" err="1"/>
              <a:t>Гиперавтоматизация</a:t>
            </a:r>
            <a:r>
              <a:rPr lang="ru-RU" sz="3600" b="1" dirty="0"/>
              <a:t>:</a:t>
            </a:r>
            <a:r>
              <a:rPr lang="ru-RU" sz="3600" dirty="0"/>
              <a:t> объединяет RPA, AI и ML, создавая автономные цепочки процессов.</a:t>
            </a:r>
          </a:p>
          <a:p>
            <a:pPr lvl="0"/>
            <a:r>
              <a:rPr lang="ru-RU" sz="3600" b="1" dirty="0" err="1"/>
              <a:t>Agentic</a:t>
            </a:r>
            <a:r>
              <a:rPr lang="ru-RU" sz="3600" b="1" dirty="0"/>
              <a:t> </a:t>
            </a:r>
            <a:r>
              <a:rPr lang="ru-RU" sz="3600" b="1" dirty="0" err="1"/>
              <a:t>revolution</a:t>
            </a:r>
            <a:r>
              <a:rPr lang="ru-RU" sz="3600" b="1" dirty="0"/>
              <a:t>:</a:t>
            </a:r>
            <a:r>
              <a:rPr lang="ru-RU" sz="3600" dirty="0"/>
              <a:t> автономные агенты берут на себя задачи и принимают решения.</a:t>
            </a:r>
          </a:p>
          <a:p>
            <a:pPr lvl="0"/>
            <a:r>
              <a:rPr lang="ru-RU" sz="3600" dirty="0"/>
              <a:t>Наш проект находится на пересечении этих трендов, что делает его актуальным в 2026 году.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1828800" y="190500"/>
            <a:ext cx="11506200" cy="103040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75000">
              <a:lnSpc>
                <a:spcPct val="100000"/>
              </a:lnSpc>
              <a:spcBef>
                <a:spcPts val="114"/>
              </a:spcBef>
            </a:pPr>
            <a:r>
              <a:rPr sz="6600" b="1" spc="75" dirty="0"/>
              <a:t>Концепция</a:t>
            </a:r>
            <a:r>
              <a:rPr sz="6600" b="1" spc="-215" dirty="0"/>
              <a:t> </a:t>
            </a:r>
            <a:r>
              <a:rPr sz="6600" b="1" spc="70" dirty="0"/>
              <a:t>проекта</a:t>
            </a:r>
            <a:endParaRPr sz="6600" b="1" dirty="0"/>
          </a:p>
        </p:txBody>
      </p:sp>
      <p:sp>
        <p:nvSpPr>
          <p:cNvPr id="4" name="object 3"/>
          <p:cNvSpPr txBox="1"/>
          <p:nvPr/>
        </p:nvSpPr>
        <p:spPr>
          <a:xfrm>
            <a:off x="457201" y="2095500"/>
            <a:ext cx="14097000" cy="3336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/>
            <a:r>
              <a:rPr lang="ru-RU" sz="3600" dirty="0" smtClean="0"/>
              <a:t>Система представляет собой автоматизированный AI-агент на базе n8n, который получает тему, выполняет поиск и анализ информации и формирует структурированный отчёт.</a:t>
            </a:r>
            <a:br>
              <a:rPr lang="ru-RU" sz="3600" dirty="0" smtClean="0"/>
            </a:br>
            <a:r>
              <a:rPr lang="ru-RU" sz="3600" dirty="0" smtClean="0"/>
              <a:t>Результат автоматически сохраняется и отправляется пользователю, а также может преобразовываться в готовую структуру презентации.</a:t>
            </a:r>
            <a:endParaRPr lang="ru-RU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2486" y="190500"/>
            <a:ext cx="15092044" cy="10323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ru-RU" sz="6600" b="1" dirty="0" smtClean="0"/>
              <a:t> Схема </a:t>
            </a:r>
            <a:r>
              <a:rPr lang="ru-RU" sz="6600" b="1" dirty="0"/>
              <a:t>работы</a:t>
            </a:r>
            <a:endParaRPr lang="ru-RU" sz="6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943100"/>
            <a:ext cx="15240000" cy="50501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lv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 1: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Ввод темы через форму или чат.</a:t>
            </a:r>
          </a:p>
          <a:p>
            <a:pPr lv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 2: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n8n отправляет запрос в поисковой API, получает ссылки и тексты.</a:t>
            </a:r>
          </a:p>
          <a:p>
            <a:pPr lv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 3: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Каждый текст обрабатывается LLM‑агентом, который суммирует основные мысли.</a:t>
            </a:r>
          </a:p>
          <a:p>
            <a:pPr lv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 4: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n8n агрегирует частичные отчёты в единую сводку.</a:t>
            </a:r>
          </a:p>
          <a:p>
            <a:pPr lv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 5: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Итог сохраняется в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Sheets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Notion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другой базе данных.</a:t>
            </a:r>
          </a:p>
          <a:p>
            <a:pPr lv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 6: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Уведомление отправляется пользователю через выбранный канал.</a:t>
            </a:r>
          </a:p>
          <a:p>
            <a:pPr lvl="0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функции: управление глубиной поиска, количество источников, периодическая автоматическая генерация.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l="13527" t="200" r="13602" b="1266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2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13070" y="190500"/>
            <a:ext cx="14309259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240" dirty="0" err="1" smtClean="0"/>
              <a:t>Возмо</a:t>
            </a:r>
            <a:r>
              <a:rPr lang="ru-RU" sz="6600" b="1" spc="240" dirty="0" smtClean="0"/>
              <a:t>ж</a:t>
            </a:r>
            <a:r>
              <a:rPr sz="6600" b="1" spc="240" dirty="0" err="1" smtClean="0"/>
              <a:t>ности</a:t>
            </a:r>
            <a:r>
              <a:rPr sz="6600" b="1" spc="-250" dirty="0" smtClean="0"/>
              <a:t> </a:t>
            </a:r>
            <a:r>
              <a:rPr sz="6600" b="1" spc="250" dirty="0"/>
              <a:t>и</a:t>
            </a:r>
            <a:r>
              <a:rPr sz="6600" b="1" spc="-245" dirty="0"/>
              <a:t> </a:t>
            </a:r>
            <a:r>
              <a:rPr sz="6600" b="1" spc="-10" dirty="0"/>
              <a:t>преимущества</a:t>
            </a:r>
            <a:endParaRPr sz="6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714500"/>
            <a:ext cx="15468600" cy="6985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046480" indent="-635">
              <a:lnSpc>
                <a:spcPct val="109600"/>
              </a:lnSpc>
              <a:spcBef>
                <a:spcPts val="90"/>
              </a:spcBef>
              <a:buChar char="•"/>
              <a:tabLst>
                <a:tab pos="12700" algn="l"/>
                <a:tab pos="377190" algn="l"/>
              </a:tabLst>
            </a:pPr>
            <a:r>
              <a:rPr sz="3600" dirty="0">
                <a:latin typeface="Microsoft Sans Serif"/>
                <a:cs typeface="Microsoft Sans Serif"/>
              </a:rPr>
              <a:t>	Полная</a:t>
            </a:r>
            <a:r>
              <a:rPr sz="3600" spc="-9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автоматизация:</a:t>
            </a:r>
            <a:r>
              <a:rPr sz="3600" spc="-90" dirty="0">
                <a:latin typeface="Microsoft Sans Serif"/>
                <a:cs typeface="Microsoft Sans Serif"/>
              </a:rPr>
              <a:t> </a:t>
            </a:r>
            <a:r>
              <a:rPr sz="3600" spc="85" dirty="0">
                <a:latin typeface="Microsoft Sans Serif"/>
                <a:cs typeface="Microsoft Sans Serif"/>
              </a:rPr>
              <a:t>от</a:t>
            </a:r>
            <a:r>
              <a:rPr sz="3600" spc="-9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поиска</a:t>
            </a:r>
            <a:r>
              <a:rPr sz="3600" spc="-90" dirty="0">
                <a:latin typeface="Microsoft Sans Serif"/>
                <a:cs typeface="Microsoft Sans Serif"/>
              </a:rPr>
              <a:t> </a:t>
            </a:r>
            <a:r>
              <a:rPr sz="3600" spc="135" dirty="0">
                <a:latin typeface="Microsoft Sans Serif"/>
                <a:cs typeface="Microsoft Sans Serif"/>
              </a:rPr>
              <a:t>до</a:t>
            </a:r>
            <a:r>
              <a:rPr sz="3600" spc="-85" dirty="0">
                <a:latin typeface="Microsoft Sans Serif"/>
                <a:cs typeface="Microsoft Sans Serif"/>
              </a:rPr>
              <a:t> </a:t>
            </a:r>
            <a:r>
              <a:rPr sz="3600" spc="130" dirty="0">
                <a:latin typeface="Microsoft Sans Serif"/>
                <a:cs typeface="Microsoft Sans Serif"/>
              </a:rPr>
              <a:t>готового</a:t>
            </a:r>
            <a:r>
              <a:rPr sz="3600" spc="-9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отчëта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1960" dirty="0">
                <a:latin typeface="Microsoft Sans Serif"/>
                <a:cs typeface="Microsoft Sans Serif"/>
              </a:rPr>
              <a:t>— </a:t>
            </a:r>
            <a:r>
              <a:rPr sz="3600" spc="105" dirty="0">
                <a:latin typeface="Microsoft Sans Serif"/>
                <a:cs typeface="Microsoft Sans Serif"/>
              </a:rPr>
              <a:t>экономия</a:t>
            </a:r>
            <a:r>
              <a:rPr sz="3600" spc="-17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часов</a:t>
            </a:r>
            <a:r>
              <a:rPr sz="3600" spc="-17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самостоятелъной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работы.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2144395" indent="-635">
              <a:lnSpc>
                <a:spcPts val="6380"/>
              </a:lnSpc>
              <a:spcBef>
                <a:spcPts val="229"/>
              </a:spcBef>
              <a:buChar char="•"/>
              <a:tabLst>
                <a:tab pos="12700" algn="l"/>
                <a:tab pos="377190" algn="l"/>
              </a:tabLst>
            </a:pPr>
            <a:r>
              <a:rPr sz="3600" dirty="0">
                <a:latin typeface="Microsoft Sans Serif"/>
                <a:cs typeface="Microsoft Sans Serif"/>
              </a:rPr>
              <a:t>	Исполъзование</a:t>
            </a:r>
            <a:r>
              <a:rPr sz="3600" spc="-1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LLM</a:t>
            </a:r>
            <a:r>
              <a:rPr sz="3600" spc="-195" dirty="0">
                <a:latin typeface="Microsoft Sans Serif"/>
                <a:cs typeface="Microsoft Sans Serif"/>
              </a:rPr>
              <a:t> </a:t>
            </a:r>
            <a:r>
              <a:rPr sz="3600" spc="-50" dirty="0">
                <a:latin typeface="Microsoft Sans Serif"/>
                <a:cs typeface="Microsoft Sans Serif"/>
              </a:rPr>
              <a:t>(ChatGPT/Claude)</a:t>
            </a:r>
            <a:r>
              <a:rPr sz="3600" spc="-1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обеспечивает </a:t>
            </a:r>
            <a:r>
              <a:rPr sz="3600" spc="50" dirty="0">
                <a:latin typeface="Microsoft Sans Serif"/>
                <a:cs typeface="Microsoft Sans Serif"/>
              </a:rPr>
              <a:t>структурированные,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spc="80" dirty="0">
                <a:latin typeface="Microsoft Sans Serif"/>
                <a:cs typeface="Microsoft Sans Serif"/>
              </a:rPr>
              <a:t>грамотные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35" dirty="0">
                <a:latin typeface="Microsoft Sans Serif"/>
                <a:cs typeface="Microsoft Sans Serif"/>
              </a:rPr>
              <a:t>резюме.</a:t>
            </a:r>
            <a:endParaRPr sz="3600" dirty="0">
              <a:latin typeface="Microsoft Sans Serif"/>
              <a:cs typeface="Microsoft Sans Serif"/>
            </a:endParaRPr>
          </a:p>
          <a:p>
            <a:pPr marL="377825" indent="-365125">
              <a:lnSpc>
                <a:spcPct val="100000"/>
              </a:lnSpc>
              <a:spcBef>
                <a:spcPts val="170"/>
              </a:spcBef>
              <a:buChar char="•"/>
              <a:tabLst>
                <a:tab pos="377825" algn="l"/>
              </a:tabLst>
            </a:pPr>
            <a:r>
              <a:rPr sz="3600" spc="-20" dirty="0">
                <a:latin typeface="Microsoft Sans Serif"/>
                <a:cs typeface="Microsoft Sans Serif"/>
              </a:rPr>
              <a:t>Масштабируемостъ:</a:t>
            </a:r>
            <a:r>
              <a:rPr sz="3600" spc="-190" dirty="0">
                <a:latin typeface="Microsoft Sans Serif"/>
                <a:cs typeface="Microsoft Sans Serif"/>
              </a:rPr>
              <a:t> </a:t>
            </a:r>
            <a:r>
              <a:rPr sz="3600" spc="355" dirty="0">
                <a:latin typeface="Microsoft Sans Serif"/>
                <a:cs typeface="Microsoft Sans Serif"/>
              </a:rPr>
              <a:t>мохно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адаптироватъ</a:t>
            </a:r>
            <a:r>
              <a:rPr sz="3600" spc="-190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под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разные</a:t>
            </a:r>
            <a:endParaRPr sz="3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3600" dirty="0">
                <a:latin typeface="Microsoft Sans Serif"/>
                <a:cs typeface="Microsoft Sans Serif"/>
              </a:rPr>
              <a:t>темы,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spc="105" dirty="0">
                <a:latin typeface="Microsoft Sans Serif"/>
                <a:cs typeface="Microsoft Sans Serif"/>
              </a:rPr>
              <a:t>языки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spc="185" dirty="0">
                <a:latin typeface="Microsoft Sans Serif"/>
                <a:cs typeface="Microsoft Sans Serif"/>
              </a:rPr>
              <a:t>и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spc="75" dirty="0">
                <a:latin typeface="Microsoft Sans Serif"/>
                <a:cs typeface="Microsoft Sans Serif"/>
              </a:rPr>
              <a:t>дисциплины.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2094230" indent="-635">
              <a:lnSpc>
                <a:spcPts val="6380"/>
              </a:lnSpc>
              <a:spcBef>
                <a:spcPts val="225"/>
              </a:spcBef>
              <a:buChar char="•"/>
              <a:tabLst>
                <a:tab pos="12700" algn="l"/>
                <a:tab pos="377190" algn="l"/>
              </a:tabLst>
            </a:pPr>
            <a:r>
              <a:rPr sz="3600" dirty="0">
                <a:latin typeface="Microsoft Sans Serif"/>
                <a:cs typeface="Microsoft Sans Serif"/>
              </a:rPr>
              <a:t>	Гибкая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50" dirty="0">
                <a:latin typeface="Microsoft Sans Serif"/>
                <a:cs typeface="Microsoft Sans Serif"/>
              </a:rPr>
              <a:t>интеграция: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155" dirty="0">
                <a:latin typeface="Microsoft Sans Serif"/>
                <a:cs typeface="Microsoft Sans Serif"/>
              </a:rPr>
              <a:t>поддерхиваются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Google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Sheets, </a:t>
            </a:r>
            <a:r>
              <a:rPr sz="3600" spc="140" dirty="0">
                <a:latin typeface="Microsoft Sans Serif"/>
                <a:cs typeface="Microsoft Sans Serif"/>
              </a:rPr>
              <a:t>Notion,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spc="65" dirty="0">
                <a:latin typeface="Microsoft Sans Serif"/>
                <a:cs typeface="Microsoft Sans Serif"/>
              </a:rPr>
              <a:t>электронная</a:t>
            </a:r>
            <a:r>
              <a:rPr sz="3600" spc="-11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почта,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Telegram</a:t>
            </a:r>
            <a:r>
              <a:rPr sz="3600" spc="-110" dirty="0">
                <a:latin typeface="Microsoft Sans Serif"/>
                <a:cs typeface="Microsoft Sans Serif"/>
              </a:rPr>
              <a:t> </a:t>
            </a:r>
            <a:r>
              <a:rPr sz="3600" spc="185" dirty="0">
                <a:latin typeface="Microsoft Sans Serif"/>
                <a:cs typeface="Microsoft Sans Serif"/>
              </a:rPr>
              <a:t>и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Discord.</a:t>
            </a:r>
            <a:endParaRPr sz="3600" dirty="0">
              <a:latin typeface="Microsoft Sans Serif"/>
              <a:cs typeface="Microsoft Sans Serif"/>
            </a:endParaRPr>
          </a:p>
          <a:p>
            <a:pPr marL="377825" indent="-365125">
              <a:lnSpc>
                <a:spcPct val="100000"/>
              </a:lnSpc>
              <a:spcBef>
                <a:spcPts val="175"/>
              </a:spcBef>
              <a:buChar char="•"/>
              <a:tabLst>
                <a:tab pos="377825" algn="l"/>
              </a:tabLst>
            </a:pPr>
            <a:r>
              <a:rPr sz="3600" spc="-50" dirty="0">
                <a:latin typeface="Microsoft Sans Serif"/>
                <a:cs typeface="Microsoft Sans Serif"/>
              </a:rPr>
              <a:t>Расширяемостъ:</a:t>
            </a:r>
            <a:r>
              <a:rPr sz="3600" spc="-160" dirty="0">
                <a:latin typeface="Microsoft Sans Serif"/>
                <a:cs typeface="Microsoft Sans Serif"/>
              </a:rPr>
              <a:t> </a:t>
            </a:r>
            <a:r>
              <a:rPr sz="3600" spc="355" dirty="0">
                <a:latin typeface="Microsoft Sans Serif"/>
                <a:cs typeface="Microsoft Sans Serif"/>
              </a:rPr>
              <a:t>мохно</a:t>
            </a:r>
            <a:r>
              <a:rPr sz="3600" spc="-16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добавитъ</a:t>
            </a:r>
            <a:r>
              <a:rPr sz="3600" spc="-15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аналитику,</a:t>
            </a:r>
            <a:endParaRPr sz="3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3600" dirty="0">
                <a:latin typeface="Microsoft Sans Serif"/>
                <a:cs typeface="Microsoft Sans Serif"/>
              </a:rPr>
              <a:t>классификацию,</a:t>
            </a:r>
            <a:r>
              <a:rPr sz="3600" spc="-30" dirty="0">
                <a:latin typeface="Microsoft Sans Serif"/>
                <a:cs typeface="Microsoft Sans Serif"/>
              </a:rPr>
              <a:t> </a:t>
            </a:r>
            <a:r>
              <a:rPr sz="3600" spc="90" dirty="0">
                <a:latin typeface="Microsoft Sans Serif"/>
                <a:cs typeface="Microsoft Sans Serif"/>
              </a:rPr>
              <a:t>генерацию</a:t>
            </a:r>
            <a:r>
              <a:rPr sz="3600" spc="-30" dirty="0">
                <a:latin typeface="Microsoft Sans Serif"/>
                <a:cs typeface="Microsoft Sans Serif"/>
              </a:rPr>
              <a:t> </a:t>
            </a:r>
            <a:r>
              <a:rPr sz="3600" spc="50" dirty="0">
                <a:latin typeface="Microsoft Sans Serif"/>
                <a:cs typeface="Microsoft Sans Serif"/>
              </a:rPr>
              <a:t>презентаций</a:t>
            </a:r>
            <a:r>
              <a:rPr sz="3600" spc="-25" dirty="0">
                <a:latin typeface="Microsoft Sans Serif"/>
                <a:cs typeface="Microsoft Sans Serif"/>
              </a:rPr>
              <a:t> </a:t>
            </a:r>
            <a:r>
              <a:rPr sz="3600" spc="165" dirty="0">
                <a:latin typeface="Microsoft Sans Serif"/>
                <a:cs typeface="Microsoft Sans Serif"/>
              </a:rPr>
              <a:t>или</a:t>
            </a:r>
            <a:r>
              <a:rPr sz="3600" spc="-3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инфографики.</a:t>
            </a:r>
            <a:endParaRPr sz="3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419100"/>
            <a:ext cx="1463294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135" dirty="0"/>
              <a:t>Проблемы</a:t>
            </a:r>
            <a:r>
              <a:rPr sz="6600" b="1" spc="-315" dirty="0"/>
              <a:t> </a:t>
            </a:r>
            <a:r>
              <a:rPr sz="6600" b="1" spc="310" dirty="0"/>
              <a:t>и</a:t>
            </a:r>
            <a:r>
              <a:rPr sz="6600" b="1" spc="-315" dirty="0"/>
              <a:t> </a:t>
            </a:r>
            <a:r>
              <a:rPr sz="6600" b="1" spc="135" dirty="0"/>
              <a:t>ограничения</a:t>
            </a:r>
            <a:endParaRPr sz="6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2171700"/>
            <a:ext cx="16787495" cy="6367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69060" indent="348615">
              <a:lnSpc>
                <a:spcPct val="108900"/>
              </a:lnSpc>
              <a:spcBef>
                <a:spcPts val="100"/>
              </a:spcBef>
              <a:buChar char="•"/>
              <a:tabLst>
                <a:tab pos="361315" algn="l"/>
              </a:tabLst>
            </a:pPr>
            <a:r>
              <a:rPr sz="3600" spc="-55" dirty="0">
                <a:latin typeface="Microsoft Sans Serif"/>
                <a:cs typeface="Microsoft Sans Serif"/>
              </a:rPr>
              <a:t>Зависимостъ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spc="85" dirty="0">
                <a:latin typeface="Microsoft Sans Serif"/>
                <a:cs typeface="Microsoft Sans Serif"/>
              </a:rPr>
              <a:t>от</a:t>
            </a:r>
            <a:r>
              <a:rPr sz="3600" spc="-180" dirty="0">
                <a:latin typeface="Microsoft Sans Serif"/>
                <a:cs typeface="Microsoft Sans Serif"/>
              </a:rPr>
              <a:t> </a:t>
            </a:r>
            <a:r>
              <a:rPr sz="3600" spc="80" dirty="0">
                <a:latin typeface="Microsoft Sans Serif"/>
                <a:cs typeface="Microsoft Sans Serif"/>
              </a:rPr>
              <a:t>внешних</a:t>
            </a:r>
            <a:r>
              <a:rPr sz="3600" spc="-180" dirty="0">
                <a:latin typeface="Microsoft Sans Serif"/>
                <a:cs typeface="Microsoft Sans Serif"/>
              </a:rPr>
              <a:t> </a:t>
            </a:r>
            <a:r>
              <a:rPr sz="3600" spc="-114" dirty="0">
                <a:latin typeface="Microsoft Sans Serif"/>
                <a:cs typeface="Microsoft Sans Serif"/>
              </a:rPr>
              <a:t>API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spc="1880" dirty="0">
                <a:latin typeface="Microsoft Sans Serif"/>
                <a:cs typeface="Microsoft Sans Serif"/>
              </a:rPr>
              <a:t>—</a:t>
            </a:r>
            <a:r>
              <a:rPr sz="3600" spc="-175" dirty="0">
                <a:latin typeface="Microsoft Sans Serif"/>
                <a:cs typeface="Microsoft Sans Serif"/>
              </a:rPr>
              <a:t> </a:t>
            </a:r>
            <a:r>
              <a:rPr sz="3600" spc="-30" dirty="0">
                <a:latin typeface="Microsoft Sans Serif"/>
                <a:cs typeface="Microsoft Sans Serif"/>
              </a:rPr>
              <a:t>стоимостъ,</a:t>
            </a:r>
            <a:r>
              <a:rPr sz="3600" spc="-180" dirty="0">
                <a:latin typeface="Microsoft Sans Serif"/>
                <a:cs typeface="Microsoft Sans Serif"/>
              </a:rPr>
              <a:t> </a:t>
            </a:r>
            <a:r>
              <a:rPr sz="3600" spc="105" dirty="0">
                <a:latin typeface="Microsoft Sans Serif"/>
                <a:cs typeface="Microsoft Sans Serif"/>
              </a:rPr>
              <a:t>лимиты</a:t>
            </a:r>
            <a:r>
              <a:rPr sz="3600" spc="-180" dirty="0">
                <a:latin typeface="Microsoft Sans Serif"/>
                <a:cs typeface="Microsoft Sans Serif"/>
              </a:rPr>
              <a:t> </a:t>
            </a:r>
            <a:r>
              <a:rPr sz="3600" spc="-25" dirty="0">
                <a:latin typeface="Microsoft Sans Serif"/>
                <a:cs typeface="Microsoft Sans Serif"/>
              </a:rPr>
              <a:t>на </a:t>
            </a:r>
            <a:r>
              <a:rPr sz="3600" dirty="0">
                <a:latin typeface="Microsoft Sans Serif"/>
                <a:cs typeface="Microsoft Sans Serif"/>
              </a:rPr>
              <a:t>запросы</a:t>
            </a:r>
            <a:r>
              <a:rPr sz="3600" spc="-140" dirty="0">
                <a:latin typeface="Microsoft Sans Serif"/>
                <a:cs typeface="Microsoft Sans Serif"/>
              </a:rPr>
              <a:t> </a:t>
            </a:r>
            <a:r>
              <a:rPr sz="3600" spc="155" dirty="0">
                <a:latin typeface="Microsoft Sans Serif"/>
                <a:cs typeface="Microsoft Sans Serif"/>
              </a:rPr>
              <a:t>и</a:t>
            </a:r>
            <a:r>
              <a:rPr sz="3600" spc="-135" dirty="0">
                <a:latin typeface="Microsoft Sans Serif"/>
                <a:cs typeface="Microsoft Sans Serif"/>
              </a:rPr>
              <a:t> </a:t>
            </a:r>
            <a:r>
              <a:rPr sz="3600" spc="204" dirty="0">
                <a:latin typeface="Microsoft Sans Serif"/>
                <a:cs typeface="Microsoft Sans Serif"/>
              </a:rPr>
              <a:t>возмохные</a:t>
            </a:r>
            <a:r>
              <a:rPr sz="3600" spc="-13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сбои.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1845310" indent="-635">
              <a:lnSpc>
                <a:spcPts val="6080"/>
              </a:lnSpc>
              <a:spcBef>
                <a:spcPts val="204"/>
              </a:spcBef>
              <a:buChar char="•"/>
              <a:tabLst>
                <a:tab pos="12700" algn="l"/>
                <a:tab pos="360680" algn="l"/>
              </a:tabLst>
            </a:pPr>
            <a:r>
              <a:rPr sz="3600" spc="-30" dirty="0">
                <a:latin typeface="Microsoft Sans Serif"/>
                <a:cs typeface="Microsoft Sans Serif"/>
              </a:rPr>
              <a:t>	Качество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поиска: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встречаются</a:t>
            </a:r>
            <a:r>
              <a:rPr sz="3600" spc="-18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шум,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устаревшие</a:t>
            </a:r>
            <a:r>
              <a:rPr sz="3600" spc="-180" dirty="0">
                <a:latin typeface="Microsoft Sans Serif"/>
                <a:cs typeface="Microsoft Sans Serif"/>
              </a:rPr>
              <a:t> </a:t>
            </a:r>
            <a:r>
              <a:rPr sz="3600" spc="110" dirty="0">
                <a:latin typeface="Microsoft Sans Serif"/>
                <a:cs typeface="Microsoft Sans Serif"/>
              </a:rPr>
              <a:t>или </a:t>
            </a:r>
            <a:r>
              <a:rPr sz="3600" spc="60" dirty="0">
                <a:latin typeface="Microsoft Sans Serif"/>
                <a:cs typeface="Microsoft Sans Serif"/>
              </a:rPr>
              <a:t>недостоверные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spc="45" dirty="0">
                <a:latin typeface="Microsoft Sans Serif"/>
                <a:cs typeface="Microsoft Sans Serif"/>
              </a:rPr>
              <a:t>источники.</a:t>
            </a:r>
            <a:endParaRPr sz="3600" dirty="0">
              <a:latin typeface="Microsoft Sans Serif"/>
              <a:cs typeface="Microsoft Sans Serif"/>
            </a:endParaRPr>
          </a:p>
          <a:p>
            <a:pPr marL="361315" indent="-348615">
              <a:lnSpc>
                <a:spcPct val="100000"/>
              </a:lnSpc>
              <a:spcBef>
                <a:spcPts val="130"/>
              </a:spcBef>
              <a:buChar char="•"/>
              <a:tabLst>
                <a:tab pos="361315" algn="l"/>
              </a:tabLst>
            </a:pPr>
            <a:r>
              <a:rPr sz="3600" dirty="0">
                <a:latin typeface="Microsoft Sans Serif"/>
                <a:cs typeface="Microsoft Sans Serif"/>
              </a:rPr>
              <a:t>Общее</a:t>
            </a:r>
            <a:r>
              <a:rPr sz="3600" spc="-175" dirty="0">
                <a:latin typeface="Microsoft Sans Serif"/>
                <a:cs typeface="Microsoft Sans Serif"/>
              </a:rPr>
              <a:t> </a:t>
            </a:r>
            <a:r>
              <a:rPr sz="3600" spc="70" dirty="0">
                <a:latin typeface="Microsoft Sans Serif"/>
                <a:cs typeface="Microsoft Sans Serif"/>
              </a:rPr>
              <a:t>понимание</a:t>
            </a:r>
            <a:r>
              <a:rPr sz="3600" spc="-175" dirty="0">
                <a:latin typeface="Microsoft Sans Serif"/>
                <a:cs typeface="Microsoft Sans Serif"/>
              </a:rPr>
              <a:t> </a:t>
            </a:r>
            <a:r>
              <a:rPr sz="3600" spc="-40" dirty="0">
                <a:latin typeface="Microsoft Sans Serif"/>
                <a:cs typeface="Microsoft Sans Serif"/>
              </a:rPr>
              <a:t>LLM</a:t>
            </a:r>
            <a:r>
              <a:rPr sz="3600" spc="-170" dirty="0">
                <a:latin typeface="Microsoft Sans Serif"/>
                <a:cs typeface="Microsoft Sans Serif"/>
              </a:rPr>
              <a:t> </a:t>
            </a:r>
            <a:r>
              <a:rPr sz="3600" spc="285" dirty="0">
                <a:latin typeface="Microsoft Sans Serif"/>
                <a:cs typeface="Microsoft Sans Serif"/>
              </a:rPr>
              <a:t>мохет</a:t>
            </a:r>
            <a:r>
              <a:rPr sz="3600" spc="-17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бытъ</a:t>
            </a:r>
            <a:r>
              <a:rPr sz="3600" spc="-175" dirty="0">
                <a:latin typeface="Microsoft Sans Serif"/>
                <a:cs typeface="Microsoft Sans Serif"/>
              </a:rPr>
              <a:t> </a:t>
            </a:r>
            <a:r>
              <a:rPr sz="3600" spc="55" dirty="0">
                <a:latin typeface="Microsoft Sans Serif"/>
                <a:cs typeface="Microsoft Sans Serif"/>
              </a:rPr>
              <a:t>ограничено,</a:t>
            </a:r>
            <a:r>
              <a:rPr sz="3600" spc="-170" dirty="0">
                <a:latin typeface="Microsoft Sans Serif"/>
                <a:cs typeface="Microsoft Sans Serif"/>
              </a:rPr>
              <a:t> </a:t>
            </a:r>
            <a:r>
              <a:rPr sz="3600" spc="65" dirty="0">
                <a:latin typeface="Microsoft Sans Serif"/>
                <a:cs typeface="Microsoft Sans Serif"/>
              </a:rPr>
              <a:t>особенно</a:t>
            </a:r>
            <a:endParaRPr sz="3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3600" spc="55" dirty="0">
                <a:latin typeface="Microsoft Sans Serif"/>
                <a:cs typeface="Microsoft Sans Serif"/>
              </a:rPr>
              <a:t>для</a:t>
            </a:r>
            <a:r>
              <a:rPr sz="3600" spc="-160" dirty="0">
                <a:latin typeface="Microsoft Sans Serif"/>
                <a:cs typeface="Microsoft Sans Serif"/>
              </a:rPr>
              <a:t> </a:t>
            </a:r>
            <a:r>
              <a:rPr sz="3600" spc="245" dirty="0">
                <a:latin typeface="Microsoft Sans Serif"/>
                <a:cs typeface="Microsoft Sans Serif"/>
              </a:rPr>
              <a:t>слохной</a:t>
            </a:r>
            <a:r>
              <a:rPr sz="3600" spc="-155" dirty="0">
                <a:latin typeface="Microsoft Sans Serif"/>
                <a:cs typeface="Microsoft Sans Serif"/>
              </a:rPr>
              <a:t> </a:t>
            </a:r>
            <a:r>
              <a:rPr sz="3600" spc="80" dirty="0">
                <a:latin typeface="Microsoft Sans Serif"/>
                <a:cs typeface="Microsoft Sans Serif"/>
              </a:rPr>
              <a:t>терминологии.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173355" indent="348615">
              <a:lnSpc>
                <a:spcPct val="107500"/>
              </a:lnSpc>
              <a:spcBef>
                <a:spcPts val="80"/>
              </a:spcBef>
              <a:buChar char="•"/>
              <a:tabLst>
                <a:tab pos="361315" algn="l"/>
              </a:tabLst>
            </a:pPr>
            <a:r>
              <a:rPr sz="3600" dirty="0">
                <a:latin typeface="Microsoft Sans Serif"/>
                <a:cs typeface="Microsoft Sans Serif"/>
              </a:rPr>
              <a:t>Настройка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155" dirty="0">
                <a:latin typeface="Microsoft Sans Serif"/>
                <a:cs typeface="Microsoft Sans Serif"/>
              </a:rPr>
              <a:t>и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120" dirty="0">
                <a:latin typeface="Microsoft Sans Serif"/>
                <a:cs typeface="Microsoft Sans Serif"/>
              </a:rPr>
              <a:t>мониторинг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229" dirty="0">
                <a:latin typeface="Microsoft Sans Serif"/>
                <a:cs typeface="Microsoft Sans Serif"/>
              </a:rPr>
              <a:t>слохных</a:t>
            </a:r>
            <a:r>
              <a:rPr sz="3600" spc="-160" dirty="0">
                <a:latin typeface="Microsoft Sans Serif"/>
                <a:cs typeface="Microsoft Sans Serif"/>
              </a:rPr>
              <a:t> </a:t>
            </a:r>
            <a:r>
              <a:rPr sz="3600" spc="220" dirty="0">
                <a:latin typeface="Microsoft Sans Serif"/>
                <a:cs typeface="Microsoft Sans Serif"/>
              </a:rPr>
              <a:t>workflow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70" dirty="0">
                <a:latin typeface="Microsoft Sans Serif"/>
                <a:cs typeface="Microsoft Sans Serif"/>
              </a:rPr>
              <a:t>в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55" dirty="0">
                <a:latin typeface="Microsoft Sans Serif"/>
                <a:cs typeface="Microsoft Sans Serif"/>
              </a:rPr>
              <a:t>n8n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требует внимателъности.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234315" indent="-635">
              <a:lnSpc>
                <a:spcPct val="107500"/>
              </a:lnSpc>
              <a:spcBef>
                <a:spcPts val="75"/>
              </a:spcBef>
              <a:buChar char="•"/>
              <a:tabLst>
                <a:tab pos="12700" algn="l"/>
                <a:tab pos="360680" algn="l"/>
              </a:tabLst>
            </a:pPr>
            <a:r>
              <a:rPr sz="3600" spc="65" dirty="0">
                <a:latin typeface="Microsoft Sans Serif"/>
                <a:cs typeface="Microsoft Sans Serif"/>
              </a:rPr>
              <a:t>	Проблемы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конфиденциалъности: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передача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spc="55" dirty="0">
                <a:latin typeface="Microsoft Sans Serif"/>
                <a:cs typeface="Microsoft Sans Serif"/>
              </a:rPr>
              <a:t>данных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через </a:t>
            </a:r>
            <a:r>
              <a:rPr sz="3600" spc="70" dirty="0">
                <a:latin typeface="Microsoft Sans Serif"/>
                <a:cs typeface="Microsoft Sans Serif"/>
              </a:rPr>
              <a:t>сторонние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сервисы.</a:t>
            </a:r>
            <a:endParaRPr sz="3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342900"/>
            <a:ext cx="15392400" cy="102976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ru-RU" sz="6600" b="1" dirty="0" smtClean="0"/>
              <a:t>Анализ </a:t>
            </a:r>
            <a:r>
              <a:rPr lang="ru-RU" sz="6600" b="1" dirty="0"/>
              <a:t>конкурентов</a:t>
            </a:r>
            <a:endParaRPr lang="ru-RU" sz="6600" dirty="0"/>
          </a:p>
        </p:txBody>
      </p:sp>
      <p:sp>
        <p:nvSpPr>
          <p:cNvPr id="3" name="object 3"/>
          <p:cNvSpPr txBox="1"/>
          <p:nvPr/>
        </p:nvSpPr>
        <p:spPr>
          <a:xfrm>
            <a:off x="481012" y="2171700"/>
            <a:ext cx="16359188" cy="66601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/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Lindy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обучаемый AI‑ассистент, генерирует краткие сводки; не осуществляет автоматического поиска.</a:t>
            </a:r>
          </a:p>
          <a:p>
            <a:pPr lvl="0"/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Scholarcy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преобразует научные статьи в ключевые факты и таблицы; работает только с загруженными PDF.</a:t>
            </a:r>
          </a:p>
          <a:p>
            <a:pPr lvl="0"/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SciSpace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продвинутый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парсер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PDF; не интегрируется с внешними сервисами.</a:t>
            </a:r>
          </a:p>
          <a:p>
            <a:pPr lvl="0"/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QuillBot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перефразирование и сокращение; не подходит для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многопоточности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Jasper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генерация маркетинговых текстов; не сфокусирован на исследованиях.</a:t>
            </a:r>
          </a:p>
          <a:p>
            <a:pPr lv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TLDR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создаёт короткие TLDR, но не агрегирует источники.</a:t>
            </a:r>
          </a:p>
          <a:p>
            <a:pPr lvl="0"/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Wordtune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Otter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Notta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ниши для расшифровок и аудио, без сбора данных.</a:t>
            </a:r>
          </a:p>
          <a:p>
            <a:pPr lvl="0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 проект отличается тем, что объединяет поиск, суммирование и сохранение в одном процессе, что недоступно для этих инструментов.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342900"/>
            <a:ext cx="14625319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75" dirty="0"/>
              <a:t>Потенциал</a:t>
            </a:r>
            <a:r>
              <a:rPr sz="6600" b="1" spc="-415" dirty="0"/>
              <a:t> </a:t>
            </a:r>
            <a:r>
              <a:rPr sz="6600" b="1" spc="75" dirty="0"/>
              <a:t>развития</a:t>
            </a:r>
            <a:endParaRPr sz="6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866900"/>
            <a:ext cx="16544812" cy="69113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40535" indent="302895">
              <a:lnSpc>
                <a:spcPct val="108100"/>
              </a:lnSpc>
              <a:spcBef>
                <a:spcPts val="95"/>
              </a:spcBef>
              <a:buChar char="•"/>
              <a:tabLst>
                <a:tab pos="315595" algn="l"/>
              </a:tabLst>
            </a:pPr>
            <a:r>
              <a:rPr sz="3600" spc="-35" dirty="0">
                <a:latin typeface="Microsoft Sans Serif"/>
                <a:cs typeface="Microsoft Sans Serif"/>
              </a:rPr>
              <a:t>Добавитъ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классификацию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spc="65" dirty="0">
                <a:latin typeface="Microsoft Sans Serif"/>
                <a:cs typeface="Microsoft Sans Serif"/>
              </a:rPr>
              <a:t>источников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spc="135" dirty="0">
                <a:latin typeface="Microsoft Sans Serif"/>
                <a:cs typeface="Microsoft Sans Serif"/>
              </a:rPr>
              <a:t>и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spc="60" dirty="0">
                <a:latin typeface="Microsoft Sans Serif"/>
                <a:cs typeface="Microsoft Sans Serif"/>
              </a:rPr>
              <a:t>выявление</a:t>
            </a:r>
            <a:r>
              <a:rPr sz="3600" spc="-110" dirty="0">
                <a:latin typeface="Microsoft Sans Serif"/>
                <a:cs typeface="Microsoft Sans Serif"/>
              </a:rPr>
              <a:t> </a:t>
            </a:r>
            <a:r>
              <a:rPr sz="3600" spc="70" dirty="0">
                <a:latin typeface="Microsoft Sans Serif"/>
                <a:cs typeface="Microsoft Sans Serif"/>
              </a:rPr>
              <a:t>трендов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spc="-50" dirty="0">
                <a:latin typeface="Microsoft Sans Serif"/>
                <a:cs typeface="Microsoft Sans Serif"/>
              </a:rPr>
              <a:t>с </a:t>
            </a:r>
            <a:r>
              <a:rPr sz="3600" spc="45" dirty="0">
                <a:latin typeface="Microsoft Sans Serif"/>
                <a:cs typeface="Microsoft Sans Serif"/>
              </a:rPr>
              <a:t>помощъю</a:t>
            </a:r>
            <a:r>
              <a:rPr sz="3600" spc="-140" dirty="0">
                <a:latin typeface="Microsoft Sans Serif"/>
                <a:cs typeface="Microsoft Sans Serif"/>
              </a:rPr>
              <a:t> </a:t>
            </a:r>
            <a:r>
              <a:rPr sz="3600" spc="-25" dirty="0">
                <a:latin typeface="Microsoft Sans Serif"/>
                <a:cs typeface="Microsoft Sans Serif"/>
              </a:rPr>
              <a:t>AI.</a:t>
            </a:r>
            <a:endParaRPr sz="3600" dirty="0">
              <a:latin typeface="Microsoft Sans Serif"/>
              <a:cs typeface="Microsoft Sans Serif"/>
            </a:endParaRPr>
          </a:p>
          <a:p>
            <a:pPr marL="315595" indent="-302895">
              <a:lnSpc>
                <a:spcPct val="100000"/>
              </a:lnSpc>
              <a:spcBef>
                <a:spcPts val="395"/>
              </a:spcBef>
              <a:buChar char="•"/>
              <a:tabLst>
                <a:tab pos="315595" algn="l"/>
              </a:tabLst>
            </a:pPr>
            <a:r>
              <a:rPr sz="3600" spc="140" dirty="0">
                <a:latin typeface="Microsoft Sans Serif"/>
                <a:cs typeface="Microsoft Sans Serif"/>
              </a:rPr>
              <a:t>Поддерхка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мулътимодалъных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данных: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spc="110" dirty="0">
                <a:latin typeface="Microsoft Sans Serif"/>
                <a:cs typeface="Microsoft Sans Serif"/>
              </a:rPr>
              <a:t>изобрахения,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аудио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spc="135" dirty="0">
                <a:latin typeface="Microsoft Sans Serif"/>
                <a:cs typeface="Microsoft Sans Serif"/>
              </a:rPr>
              <a:t>и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видео.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1417320" indent="302895">
              <a:lnSpc>
                <a:spcPct val="108100"/>
              </a:lnSpc>
              <a:spcBef>
                <a:spcPts val="70"/>
              </a:spcBef>
              <a:buChar char="•"/>
              <a:tabLst>
                <a:tab pos="315595" algn="l"/>
              </a:tabLst>
            </a:pPr>
            <a:r>
              <a:rPr sz="3600" dirty="0">
                <a:latin typeface="Microsoft Sans Serif"/>
                <a:cs typeface="Microsoft Sans Serif"/>
              </a:rPr>
              <a:t>Интеграция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spc="-145" dirty="0">
                <a:latin typeface="Microsoft Sans Serif"/>
                <a:cs typeface="Microsoft Sans Serif"/>
              </a:rPr>
              <a:t>с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spc="55" dirty="0">
                <a:latin typeface="Microsoft Sans Serif"/>
                <a:cs typeface="Microsoft Sans Serif"/>
              </a:rPr>
              <a:t>платными</a:t>
            </a:r>
            <a:r>
              <a:rPr sz="3600" spc="-4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научными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базами</a:t>
            </a:r>
            <a:r>
              <a:rPr sz="3600" spc="-45" dirty="0">
                <a:latin typeface="Microsoft Sans Serif"/>
                <a:cs typeface="Microsoft Sans Serif"/>
              </a:rPr>
              <a:t> </a:t>
            </a:r>
            <a:r>
              <a:rPr sz="3600" spc="-200" dirty="0">
                <a:latin typeface="Microsoft Sans Serif"/>
                <a:cs typeface="Microsoft Sans Serif"/>
              </a:rPr>
              <a:t>(JSTOR,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Elsevier)</a:t>
            </a:r>
            <a:r>
              <a:rPr sz="3600" spc="-45" dirty="0">
                <a:latin typeface="Microsoft Sans Serif"/>
                <a:cs typeface="Microsoft Sans Serif"/>
              </a:rPr>
              <a:t> </a:t>
            </a:r>
            <a:r>
              <a:rPr sz="3600" spc="90" dirty="0">
                <a:latin typeface="Microsoft Sans Serif"/>
                <a:cs typeface="Microsoft Sans Serif"/>
              </a:rPr>
              <a:t>при </a:t>
            </a:r>
            <a:r>
              <a:rPr sz="3600" spc="55" dirty="0">
                <a:latin typeface="Microsoft Sans Serif"/>
                <a:cs typeface="Microsoft Sans Serif"/>
              </a:rPr>
              <a:t>наличии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доступа.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1238885" indent="-635">
              <a:lnSpc>
                <a:spcPts val="5250"/>
              </a:lnSpc>
              <a:spcBef>
                <a:spcPts val="240"/>
              </a:spcBef>
              <a:buChar char="•"/>
              <a:tabLst>
                <a:tab pos="12700" algn="l"/>
                <a:tab pos="314960" algn="l"/>
              </a:tabLst>
            </a:pPr>
            <a:r>
              <a:rPr sz="3600" dirty="0">
                <a:latin typeface="Microsoft Sans Serif"/>
                <a:cs typeface="Microsoft Sans Serif"/>
              </a:rPr>
              <a:t>	Обучение</a:t>
            </a:r>
            <a:r>
              <a:rPr sz="3600" spc="-4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собственных</a:t>
            </a:r>
            <a:r>
              <a:rPr sz="3600" spc="-40" dirty="0">
                <a:latin typeface="Microsoft Sans Serif"/>
                <a:cs typeface="Microsoft Sans Serif"/>
              </a:rPr>
              <a:t> </a:t>
            </a:r>
            <a:r>
              <a:rPr sz="3600" spc="65" dirty="0">
                <a:latin typeface="Microsoft Sans Serif"/>
                <a:cs typeface="Microsoft Sans Serif"/>
              </a:rPr>
              <a:t>моделей</a:t>
            </a:r>
            <a:r>
              <a:rPr sz="3600" spc="-4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на</a:t>
            </a:r>
            <a:r>
              <a:rPr sz="3600" spc="-40" dirty="0">
                <a:latin typeface="Microsoft Sans Serif"/>
                <a:cs typeface="Microsoft Sans Serif"/>
              </a:rPr>
              <a:t> </a:t>
            </a:r>
            <a:r>
              <a:rPr sz="3600" spc="80" dirty="0">
                <a:latin typeface="Microsoft Sans Serif"/>
                <a:cs typeface="Microsoft Sans Serif"/>
              </a:rPr>
              <a:t>корпоративных</a:t>
            </a:r>
            <a:r>
              <a:rPr sz="3600" spc="-40" dirty="0">
                <a:latin typeface="Microsoft Sans Serif"/>
                <a:cs typeface="Microsoft Sans Serif"/>
              </a:rPr>
              <a:t> </a:t>
            </a:r>
            <a:r>
              <a:rPr sz="3600" spc="50" dirty="0">
                <a:latin typeface="Microsoft Sans Serif"/>
                <a:cs typeface="Microsoft Sans Serif"/>
              </a:rPr>
              <a:t>данных</a:t>
            </a:r>
            <a:r>
              <a:rPr sz="3600" spc="-40" dirty="0">
                <a:latin typeface="Microsoft Sans Serif"/>
                <a:cs typeface="Microsoft Sans Serif"/>
              </a:rPr>
              <a:t> </a:t>
            </a:r>
            <a:r>
              <a:rPr sz="3600" spc="25" dirty="0">
                <a:latin typeface="Microsoft Sans Serif"/>
                <a:cs typeface="Microsoft Sans Serif"/>
              </a:rPr>
              <a:t>для </a:t>
            </a:r>
            <a:r>
              <a:rPr sz="3600" spc="75" dirty="0">
                <a:latin typeface="Microsoft Sans Serif"/>
                <a:cs typeface="Microsoft Sans Serif"/>
              </a:rPr>
              <a:t>повышения</a:t>
            </a:r>
            <a:r>
              <a:rPr sz="3600" spc="-11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точности.</a:t>
            </a:r>
            <a:endParaRPr sz="3600" dirty="0">
              <a:latin typeface="Microsoft Sans Serif"/>
              <a:cs typeface="Microsoft Sans Serif"/>
            </a:endParaRPr>
          </a:p>
          <a:p>
            <a:pPr marL="315595" indent="-302895">
              <a:lnSpc>
                <a:spcPct val="100000"/>
              </a:lnSpc>
              <a:spcBef>
                <a:spcPts val="155"/>
              </a:spcBef>
              <a:buChar char="•"/>
              <a:tabLst>
                <a:tab pos="315595" algn="l"/>
              </a:tabLst>
            </a:pPr>
            <a:r>
              <a:rPr sz="3600" dirty="0">
                <a:latin typeface="Microsoft Sans Serif"/>
                <a:cs typeface="Microsoft Sans Serif"/>
              </a:rPr>
              <a:t>Генерация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презентаций</a:t>
            </a:r>
            <a:r>
              <a:rPr sz="3600" spc="-55" dirty="0">
                <a:latin typeface="Microsoft Sans Serif"/>
                <a:cs typeface="Microsoft Sans Serif"/>
              </a:rPr>
              <a:t> </a:t>
            </a:r>
            <a:r>
              <a:rPr sz="3600" spc="135" dirty="0">
                <a:latin typeface="Microsoft Sans Serif"/>
                <a:cs typeface="Microsoft Sans Serif"/>
              </a:rPr>
              <a:t>и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spc="65" dirty="0">
                <a:latin typeface="Microsoft Sans Serif"/>
                <a:cs typeface="Microsoft Sans Serif"/>
              </a:rPr>
              <a:t>интерактивных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инфографик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на</a:t>
            </a:r>
            <a:r>
              <a:rPr sz="3600" spc="-5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основе</a:t>
            </a:r>
            <a:endParaRPr sz="3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3600" spc="-10" dirty="0">
                <a:latin typeface="Microsoft Sans Serif"/>
                <a:cs typeface="Microsoft Sans Serif"/>
              </a:rPr>
              <a:t>отчëтов.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840105" indent="302895">
              <a:lnSpc>
                <a:spcPts val="5250"/>
              </a:lnSpc>
              <a:spcBef>
                <a:spcPts val="105"/>
              </a:spcBef>
              <a:buChar char="•"/>
              <a:tabLst>
                <a:tab pos="315595" algn="l"/>
              </a:tabLst>
            </a:pPr>
            <a:r>
              <a:rPr sz="3600" dirty="0">
                <a:latin typeface="Microsoft Sans Serif"/>
                <a:cs typeface="Microsoft Sans Serif"/>
              </a:rPr>
              <a:t>Расширение</a:t>
            </a:r>
            <a:r>
              <a:rPr sz="3600" spc="-13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на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разные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spc="65" dirty="0">
                <a:latin typeface="Microsoft Sans Serif"/>
                <a:cs typeface="Microsoft Sans Serif"/>
              </a:rPr>
              <a:t>языки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spc="135" dirty="0">
                <a:latin typeface="Microsoft Sans Serif"/>
                <a:cs typeface="Microsoft Sans Serif"/>
              </a:rPr>
              <a:t>и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страны,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spc="50" dirty="0">
                <a:latin typeface="Microsoft Sans Serif"/>
                <a:cs typeface="Microsoft Sans Serif"/>
              </a:rPr>
              <a:t>включая</a:t>
            </a:r>
            <a:r>
              <a:rPr sz="3600" spc="-13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автоматический перевод.</a:t>
            </a:r>
            <a:endParaRPr sz="3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419100"/>
            <a:ext cx="13408660" cy="102976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b="1" dirty="0"/>
              <a:t>План</a:t>
            </a:r>
            <a:r>
              <a:rPr sz="6600" b="1" spc="-680" dirty="0"/>
              <a:t> </a:t>
            </a:r>
            <a:r>
              <a:rPr sz="6600" b="1" spc="70" dirty="0"/>
              <a:t>реализации</a:t>
            </a:r>
            <a:endParaRPr sz="6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943100"/>
            <a:ext cx="17053560" cy="5699124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45"/>
              </a:spcBef>
              <a:buChar char="•"/>
              <a:tabLst>
                <a:tab pos="332105" algn="l"/>
              </a:tabLst>
            </a:pPr>
            <a:r>
              <a:rPr sz="3600" dirty="0">
                <a:latin typeface="Microsoft Sans Serif"/>
                <a:cs typeface="Microsoft Sans Serif"/>
              </a:rPr>
              <a:t>Неделя</a:t>
            </a:r>
            <a:r>
              <a:rPr sz="3600" spc="-8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1: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Анализ</a:t>
            </a:r>
            <a:r>
              <a:rPr sz="3600" spc="-85" dirty="0">
                <a:latin typeface="Microsoft Sans Serif"/>
                <a:cs typeface="Microsoft Sans Serif"/>
              </a:rPr>
              <a:t> </a:t>
            </a:r>
            <a:r>
              <a:rPr sz="3600" spc="80" dirty="0">
                <a:latin typeface="Microsoft Sans Serif"/>
                <a:cs typeface="Microsoft Sans Serif"/>
              </a:rPr>
              <a:t>требований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spc="165" dirty="0">
                <a:latin typeface="Microsoft Sans Serif"/>
                <a:cs typeface="Microsoft Sans Serif"/>
              </a:rPr>
              <a:t>и</a:t>
            </a:r>
            <a:r>
              <a:rPr sz="3600" spc="-80" dirty="0">
                <a:latin typeface="Microsoft Sans Serif"/>
                <a:cs typeface="Microsoft Sans Serif"/>
              </a:rPr>
              <a:t> </a:t>
            </a:r>
            <a:r>
              <a:rPr sz="3600" spc="65" dirty="0">
                <a:latin typeface="Microsoft Sans Serif"/>
                <a:cs typeface="Microsoft Sans Serif"/>
              </a:rPr>
              <a:t>проеkтирование.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1979295" indent="-635">
              <a:lnSpc>
                <a:spcPct val="108800"/>
              </a:lnSpc>
              <a:buChar char="•"/>
              <a:tabLst>
                <a:tab pos="12700" algn="l"/>
                <a:tab pos="331470" algn="l"/>
              </a:tabLst>
            </a:pPr>
            <a:r>
              <a:rPr sz="3600" dirty="0">
                <a:latin typeface="Microsoft Sans Serif"/>
                <a:cs typeface="Microsoft Sans Serif"/>
              </a:rPr>
              <a:t>	Неделя</a:t>
            </a:r>
            <a:r>
              <a:rPr sz="3600" spc="-10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2:</a:t>
            </a:r>
            <a:r>
              <a:rPr sz="3600" spc="-10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Настройkа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n8n,</a:t>
            </a:r>
            <a:r>
              <a:rPr sz="3600" spc="-105" dirty="0">
                <a:latin typeface="Microsoft Sans Serif"/>
                <a:cs typeface="Microsoft Sans Serif"/>
              </a:rPr>
              <a:t> </a:t>
            </a:r>
            <a:r>
              <a:rPr sz="3600" spc="110" dirty="0">
                <a:latin typeface="Microsoft Sans Serif"/>
                <a:cs typeface="Microsoft Sans Serif"/>
              </a:rPr>
              <a:t>подkлючение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100" dirty="0">
                <a:latin typeface="Microsoft Sans Serif"/>
                <a:cs typeface="Microsoft Sans Serif"/>
              </a:rPr>
              <a:t>поисkового</a:t>
            </a:r>
            <a:r>
              <a:rPr sz="3600" spc="-105" dirty="0">
                <a:latin typeface="Microsoft Sans Serif"/>
                <a:cs typeface="Microsoft Sans Serif"/>
              </a:rPr>
              <a:t> </a:t>
            </a:r>
            <a:r>
              <a:rPr sz="3600" spc="-100" dirty="0">
                <a:latin typeface="Microsoft Sans Serif"/>
                <a:cs typeface="Microsoft Sans Serif"/>
              </a:rPr>
              <a:t>API</a:t>
            </a:r>
            <a:r>
              <a:rPr sz="3600" spc="-105" dirty="0">
                <a:latin typeface="Microsoft Sans Serif"/>
                <a:cs typeface="Microsoft Sans Serif"/>
              </a:rPr>
              <a:t> </a:t>
            </a:r>
            <a:r>
              <a:rPr sz="3600" spc="114" dirty="0">
                <a:latin typeface="Microsoft Sans Serif"/>
                <a:cs typeface="Microsoft Sans Serif"/>
              </a:rPr>
              <a:t>и </a:t>
            </a:r>
            <a:r>
              <a:rPr sz="3600" spc="75" dirty="0">
                <a:latin typeface="Microsoft Sans Serif"/>
                <a:cs typeface="Microsoft Sans Serif"/>
              </a:rPr>
              <a:t>получение</a:t>
            </a:r>
            <a:r>
              <a:rPr sz="3600" spc="-145" dirty="0">
                <a:latin typeface="Microsoft Sans Serif"/>
                <a:cs typeface="Microsoft Sans Serif"/>
              </a:rPr>
              <a:t> </a:t>
            </a:r>
            <a:r>
              <a:rPr sz="3600" spc="75" dirty="0">
                <a:latin typeface="Microsoft Sans Serif"/>
                <a:cs typeface="Microsoft Sans Serif"/>
              </a:rPr>
              <a:t>kлючей.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2444750" indent="319405">
              <a:lnSpc>
                <a:spcPct val="108800"/>
              </a:lnSpc>
              <a:spcBef>
                <a:spcPts val="5"/>
              </a:spcBef>
              <a:buChar char="•"/>
              <a:tabLst>
                <a:tab pos="332105" algn="l"/>
              </a:tabLst>
            </a:pPr>
            <a:r>
              <a:rPr sz="3600" spc="55" dirty="0">
                <a:latin typeface="Microsoft Sans Serif"/>
                <a:cs typeface="Microsoft Sans Serif"/>
              </a:rPr>
              <a:t>Недели</a:t>
            </a:r>
            <a:r>
              <a:rPr sz="3600" spc="-170" dirty="0">
                <a:latin typeface="Microsoft Sans Serif"/>
                <a:cs typeface="Microsoft Sans Serif"/>
              </a:rPr>
              <a:t> </a:t>
            </a:r>
            <a:r>
              <a:rPr sz="3600" spc="450" dirty="0">
                <a:latin typeface="Microsoft Sans Serif"/>
                <a:cs typeface="Microsoft Sans Serif"/>
              </a:rPr>
              <a:t>3–</a:t>
            </a:r>
            <a:r>
              <a:rPr sz="3600" dirty="0">
                <a:latin typeface="Microsoft Sans Serif"/>
                <a:cs typeface="Microsoft Sans Serif"/>
              </a:rPr>
              <a:t>4: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Pазработkа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175" dirty="0">
                <a:latin typeface="Microsoft Sans Serif"/>
                <a:cs typeface="Microsoft Sans Serif"/>
              </a:rPr>
              <a:t>workflow: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55" dirty="0">
                <a:latin typeface="Microsoft Sans Serif"/>
                <a:cs typeface="Microsoft Sans Serif"/>
              </a:rPr>
              <a:t>генерация</a:t>
            </a:r>
            <a:r>
              <a:rPr sz="3600" spc="-17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подзадач, </a:t>
            </a:r>
            <a:r>
              <a:rPr sz="3600" spc="50" dirty="0">
                <a:latin typeface="Microsoft Sans Serif"/>
                <a:cs typeface="Microsoft Sans Serif"/>
              </a:rPr>
              <a:t>суммирование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spc="165" dirty="0">
                <a:latin typeface="Microsoft Sans Serif"/>
                <a:cs typeface="Microsoft Sans Serif"/>
              </a:rPr>
              <a:t>и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агрегация.</a:t>
            </a:r>
            <a:endParaRPr sz="3600" dirty="0">
              <a:latin typeface="Microsoft Sans Serif"/>
              <a:cs typeface="Microsoft Sans Serif"/>
            </a:endParaRPr>
          </a:p>
          <a:p>
            <a:pPr marL="12700" marR="2163445" indent="-635">
              <a:lnSpc>
                <a:spcPts val="5630"/>
              </a:lnSpc>
              <a:spcBef>
                <a:spcPts val="195"/>
              </a:spcBef>
              <a:buChar char="•"/>
              <a:tabLst>
                <a:tab pos="12700" algn="l"/>
                <a:tab pos="331470" algn="l"/>
              </a:tabLst>
            </a:pPr>
            <a:r>
              <a:rPr sz="3600" dirty="0">
                <a:latin typeface="Microsoft Sans Serif"/>
                <a:cs typeface="Microsoft Sans Serif"/>
              </a:rPr>
              <a:t>	Неделя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5: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55" dirty="0">
                <a:latin typeface="Microsoft Sans Serif"/>
                <a:cs typeface="Microsoft Sans Serif"/>
              </a:rPr>
              <a:t>Интеграция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50" dirty="0">
                <a:latin typeface="Microsoft Sans Serif"/>
                <a:cs typeface="Microsoft Sans Serif"/>
              </a:rPr>
              <a:t>с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Google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80" dirty="0">
                <a:latin typeface="Microsoft Sans Serif"/>
                <a:cs typeface="Microsoft Sans Serif"/>
              </a:rPr>
              <a:t>Sheets/Notion,</a:t>
            </a:r>
            <a:r>
              <a:rPr sz="3600" spc="-9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настройkа </a:t>
            </a:r>
            <a:r>
              <a:rPr sz="3600" spc="60" dirty="0">
                <a:latin typeface="Microsoft Sans Serif"/>
                <a:cs typeface="Microsoft Sans Serif"/>
              </a:rPr>
              <a:t>уведомлений.</a:t>
            </a:r>
            <a:endParaRPr sz="36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170"/>
              </a:spcBef>
              <a:buChar char="•"/>
              <a:tabLst>
                <a:tab pos="332105" algn="l"/>
              </a:tabLst>
            </a:pPr>
            <a:r>
              <a:rPr sz="3600" dirty="0">
                <a:latin typeface="Microsoft Sans Serif"/>
                <a:cs typeface="Microsoft Sans Serif"/>
              </a:rPr>
              <a:t>Неделя</a:t>
            </a:r>
            <a:r>
              <a:rPr sz="3600" spc="-7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6:</a:t>
            </a:r>
            <a:r>
              <a:rPr sz="3600" spc="-6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Тестирование,</a:t>
            </a:r>
            <a:r>
              <a:rPr sz="3600" spc="-7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отладkа</a:t>
            </a:r>
            <a:r>
              <a:rPr sz="3600" spc="-65" dirty="0">
                <a:latin typeface="Microsoft Sans Serif"/>
                <a:cs typeface="Microsoft Sans Serif"/>
              </a:rPr>
              <a:t> </a:t>
            </a:r>
            <a:r>
              <a:rPr sz="3600" spc="165" dirty="0">
                <a:latin typeface="Microsoft Sans Serif"/>
                <a:cs typeface="Microsoft Sans Serif"/>
              </a:rPr>
              <a:t>и</a:t>
            </a:r>
            <a:r>
              <a:rPr sz="3600" spc="-70" dirty="0">
                <a:latin typeface="Microsoft Sans Serif"/>
                <a:cs typeface="Microsoft Sans Serif"/>
              </a:rPr>
              <a:t> </a:t>
            </a:r>
            <a:r>
              <a:rPr sz="3600" spc="55" dirty="0">
                <a:latin typeface="Microsoft Sans Serif"/>
                <a:cs typeface="Microsoft Sans Serif"/>
              </a:rPr>
              <a:t>оценkа</a:t>
            </a:r>
            <a:r>
              <a:rPr sz="3600" spc="-6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kачества</a:t>
            </a:r>
            <a:r>
              <a:rPr sz="3600" spc="-7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отчëтов.</a:t>
            </a:r>
            <a:endParaRPr sz="360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455"/>
              </a:spcBef>
              <a:buChar char="•"/>
              <a:tabLst>
                <a:tab pos="332105" algn="l"/>
              </a:tabLst>
            </a:pPr>
            <a:r>
              <a:rPr sz="3600" dirty="0">
                <a:latin typeface="Microsoft Sans Serif"/>
                <a:cs typeface="Microsoft Sans Serif"/>
              </a:rPr>
              <a:t>Неделя</a:t>
            </a:r>
            <a:r>
              <a:rPr sz="3600" spc="-12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7: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65" dirty="0">
                <a:latin typeface="Microsoft Sans Serif"/>
                <a:cs typeface="Microsoft Sans Serif"/>
              </a:rPr>
              <a:t>Подготовkа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70" dirty="0">
                <a:latin typeface="Microsoft Sans Serif"/>
                <a:cs typeface="Microsoft Sans Serif"/>
              </a:rPr>
              <a:t>доkументации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165" dirty="0">
                <a:latin typeface="Microsoft Sans Serif"/>
                <a:cs typeface="Microsoft Sans Serif"/>
              </a:rPr>
              <a:t>и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70" dirty="0">
                <a:latin typeface="Microsoft Sans Serif"/>
                <a:cs typeface="Microsoft Sans Serif"/>
              </a:rPr>
              <a:t>обучение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полъзователей.</a:t>
            </a:r>
            <a:endParaRPr sz="3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47700"/>
            <a:ext cx="14632940" cy="1015663"/>
          </a:xfrm>
        </p:spPr>
        <p:txBody>
          <a:bodyPr/>
          <a:lstStyle/>
          <a:p>
            <a:r>
              <a:rPr sz="6600" b="1" dirty="0" err="1"/>
              <a:t>Бюджет</a:t>
            </a:r>
            <a:r>
              <a:rPr sz="6600" b="1" dirty="0"/>
              <a:t> </a:t>
            </a:r>
            <a:r>
              <a:rPr sz="6600" b="1" dirty="0" err="1"/>
              <a:t>проекта</a:t>
            </a:r>
            <a:endParaRPr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778" y="2857500"/>
            <a:ext cx="17341850" cy="4255011"/>
          </a:xfrm>
        </p:spPr>
        <p:txBody>
          <a:bodyPr/>
          <a:lstStyle/>
          <a:p>
            <a:r>
              <a:rPr dirty="0"/>
              <a:t>n8n (self-hosted): ~$10 (2 </a:t>
            </a:r>
            <a:r>
              <a:rPr dirty="0" err="1"/>
              <a:t>месяца</a:t>
            </a:r>
            <a:r>
              <a:rPr dirty="0"/>
              <a:t>)</a:t>
            </a:r>
          </a:p>
          <a:p>
            <a:r>
              <a:rPr dirty="0"/>
              <a:t>API </a:t>
            </a:r>
            <a:r>
              <a:rPr dirty="0" err="1"/>
              <a:t>поиска</a:t>
            </a:r>
            <a:r>
              <a:rPr dirty="0"/>
              <a:t> (</a:t>
            </a:r>
            <a:r>
              <a:rPr dirty="0" err="1"/>
              <a:t>Tavily</a:t>
            </a:r>
            <a:r>
              <a:rPr dirty="0"/>
              <a:t>): ~$64</a:t>
            </a:r>
          </a:p>
          <a:p>
            <a:r>
              <a:rPr dirty="0"/>
              <a:t>LLM (GPT-4 Turbo): ~$25</a:t>
            </a:r>
          </a:p>
          <a:p>
            <a:r>
              <a:rPr dirty="0" err="1"/>
              <a:t>Тестирование</a:t>
            </a:r>
            <a:r>
              <a:rPr dirty="0"/>
              <a:t> и </a:t>
            </a:r>
            <a:r>
              <a:rPr dirty="0" err="1"/>
              <a:t>резерв</a:t>
            </a:r>
            <a:r>
              <a:rPr dirty="0"/>
              <a:t>: ~$20</a:t>
            </a:r>
          </a:p>
          <a:p>
            <a:endParaRPr dirty="0"/>
          </a:p>
          <a:p>
            <a:r>
              <a:rPr dirty="0" err="1"/>
              <a:t>Итого</a:t>
            </a:r>
            <a:r>
              <a:rPr dirty="0"/>
              <a:t>: ~$119 (</a:t>
            </a:r>
            <a:r>
              <a:rPr dirty="0" err="1"/>
              <a:t>минимальный</a:t>
            </a:r>
            <a:r>
              <a:rPr dirty="0"/>
              <a:t> </a:t>
            </a:r>
            <a:r>
              <a:rPr dirty="0" err="1"/>
              <a:t>вариант</a:t>
            </a:r>
            <a:r>
              <a:rPr dirty="0"/>
              <a:t>)</a:t>
            </a:r>
          </a:p>
          <a:p>
            <a:r>
              <a:rPr dirty="0" err="1"/>
              <a:t>Альтернатива</a:t>
            </a:r>
            <a:r>
              <a:rPr dirty="0"/>
              <a:t> (n8n Cloud): ~$157</a:t>
            </a:r>
          </a:p>
        </p:txBody>
      </p:sp>
    </p:spTree>
    <p:extLst>
      <p:ext uri="{BB962C8B-B14F-4D97-AF65-F5344CB8AC3E}">
        <p14:creationId xmlns:p14="http://schemas.microsoft.com/office/powerpoint/2010/main" val="3528761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47827" y="495300"/>
            <a:ext cx="8084184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600" spc="70" dirty="0"/>
              <a:t>Заключение</a:t>
            </a:r>
            <a:endParaRPr sz="66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2552700"/>
            <a:ext cx="17341850" cy="47967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87680" indent="297815">
              <a:lnSpc>
                <a:spcPct val="109200"/>
              </a:lnSpc>
              <a:spcBef>
                <a:spcPts val="95"/>
              </a:spcBef>
              <a:buChar char="•"/>
              <a:tabLst>
                <a:tab pos="310515" algn="l"/>
              </a:tabLst>
            </a:pPr>
            <a:r>
              <a:rPr sz="3600" spc="55" dirty="0"/>
              <a:t>Проект</a:t>
            </a:r>
            <a:r>
              <a:rPr sz="3600" spc="135" dirty="0"/>
              <a:t> </a:t>
            </a:r>
            <a:r>
              <a:rPr sz="3600" dirty="0"/>
              <a:t>демонстрирует,</a:t>
            </a:r>
            <a:r>
              <a:rPr sz="3600" spc="130" dirty="0"/>
              <a:t> </a:t>
            </a:r>
            <a:r>
              <a:rPr sz="3600" spc="55" dirty="0"/>
              <a:t>как</a:t>
            </a:r>
            <a:r>
              <a:rPr sz="3600" spc="135" dirty="0"/>
              <a:t> </a:t>
            </a:r>
            <a:r>
              <a:rPr sz="3600" dirty="0"/>
              <a:t>гиперавтоматизация</a:t>
            </a:r>
            <a:r>
              <a:rPr sz="3600" spc="130" dirty="0"/>
              <a:t> </a:t>
            </a:r>
            <a:r>
              <a:rPr sz="3600" spc="150" dirty="0"/>
              <a:t>и</a:t>
            </a:r>
            <a:r>
              <a:rPr sz="3600" spc="130" dirty="0"/>
              <a:t> </a:t>
            </a:r>
            <a:r>
              <a:rPr sz="3600" spc="-30" dirty="0"/>
              <a:t>AI</a:t>
            </a:r>
            <a:r>
              <a:rPr sz="3600" spc="-30" dirty="0">
                <a:latin typeface="Times New Roman"/>
                <a:cs typeface="Times New Roman"/>
              </a:rPr>
              <a:t>-</a:t>
            </a:r>
            <a:r>
              <a:rPr sz="3600" dirty="0"/>
              <a:t>агенты</a:t>
            </a:r>
            <a:r>
              <a:rPr sz="3600" spc="135" dirty="0"/>
              <a:t> </a:t>
            </a:r>
            <a:r>
              <a:rPr sz="3600" spc="40" dirty="0"/>
              <a:t>могут </a:t>
            </a:r>
            <a:r>
              <a:rPr sz="3600" dirty="0"/>
              <a:t>трансформироватъ</a:t>
            </a:r>
            <a:r>
              <a:rPr sz="3600" spc="-125" dirty="0"/>
              <a:t> </a:t>
            </a:r>
            <a:r>
              <a:rPr sz="3600" spc="70" dirty="0"/>
              <a:t>учебный</a:t>
            </a:r>
            <a:r>
              <a:rPr sz="3600" spc="-125" dirty="0"/>
              <a:t> </a:t>
            </a:r>
            <a:r>
              <a:rPr sz="3600" dirty="0"/>
              <a:t>процесс,</a:t>
            </a:r>
            <a:r>
              <a:rPr sz="3600" spc="-125" dirty="0"/>
              <a:t> </a:t>
            </a:r>
            <a:r>
              <a:rPr sz="3600" spc="135" dirty="0"/>
              <a:t>освобохдая</a:t>
            </a:r>
            <a:r>
              <a:rPr sz="3600" spc="-125" dirty="0"/>
              <a:t> </a:t>
            </a:r>
            <a:r>
              <a:rPr sz="3600" spc="55" dirty="0"/>
              <a:t>время</a:t>
            </a:r>
            <a:r>
              <a:rPr sz="3600" spc="-120" dirty="0"/>
              <a:t> </a:t>
            </a:r>
            <a:r>
              <a:rPr sz="3600" spc="70" dirty="0"/>
              <a:t>для</a:t>
            </a:r>
            <a:r>
              <a:rPr sz="3600" spc="-125" dirty="0"/>
              <a:t> </a:t>
            </a:r>
            <a:r>
              <a:rPr sz="3600" spc="-10" dirty="0"/>
              <a:t>анализа.</a:t>
            </a:r>
          </a:p>
          <a:p>
            <a:pPr marL="12700" marR="1080135" indent="-635">
              <a:lnSpc>
                <a:spcPct val="109200"/>
              </a:lnSpc>
              <a:buChar char="•"/>
              <a:tabLst>
                <a:tab pos="12700" algn="l"/>
                <a:tab pos="309880" algn="l"/>
              </a:tabLst>
            </a:pPr>
            <a:r>
              <a:rPr sz="3600" dirty="0"/>
              <a:t>	Благодаря</a:t>
            </a:r>
            <a:r>
              <a:rPr sz="3600" spc="-10" dirty="0"/>
              <a:t> </a:t>
            </a:r>
            <a:r>
              <a:rPr sz="3600" dirty="0"/>
              <a:t>модулъной</a:t>
            </a:r>
            <a:r>
              <a:rPr sz="3600" spc="-5" dirty="0"/>
              <a:t> </a:t>
            </a:r>
            <a:r>
              <a:rPr sz="3600" spc="45" dirty="0"/>
              <a:t>архитектуре</a:t>
            </a:r>
            <a:r>
              <a:rPr sz="3600" spc="-10" dirty="0"/>
              <a:t> </a:t>
            </a:r>
            <a:r>
              <a:rPr sz="3600" dirty="0"/>
              <a:t>n8n</a:t>
            </a:r>
            <a:r>
              <a:rPr sz="3600" spc="-5" dirty="0"/>
              <a:t> </a:t>
            </a:r>
            <a:r>
              <a:rPr sz="3600" spc="150" dirty="0"/>
              <a:t>и</a:t>
            </a:r>
            <a:r>
              <a:rPr sz="3600" spc="-10" dirty="0"/>
              <a:t> </a:t>
            </a:r>
            <a:r>
              <a:rPr sz="3600" dirty="0"/>
              <a:t>силе</a:t>
            </a:r>
            <a:r>
              <a:rPr sz="3600" spc="-5" dirty="0"/>
              <a:t> </a:t>
            </a:r>
            <a:r>
              <a:rPr sz="3600" spc="85" dirty="0"/>
              <a:t>языковых</a:t>
            </a:r>
            <a:r>
              <a:rPr sz="3600" spc="-10" dirty="0"/>
              <a:t> </a:t>
            </a:r>
            <a:r>
              <a:rPr sz="3600" spc="40" dirty="0"/>
              <a:t>моделей, </a:t>
            </a:r>
            <a:r>
              <a:rPr sz="3600" spc="75" dirty="0"/>
              <a:t>решение</a:t>
            </a:r>
            <a:r>
              <a:rPr sz="3600" spc="-114" dirty="0"/>
              <a:t> </a:t>
            </a:r>
            <a:r>
              <a:rPr sz="3600" dirty="0"/>
              <a:t>адаптируется</a:t>
            </a:r>
            <a:r>
              <a:rPr sz="3600" spc="-114" dirty="0"/>
              <a:t> </a:t>
            </a:r>
            <a:r>
              <a:rPr sz="3600" spc="100" dirty="0"/>
              <a:t>под</a:t>
            </a:r>
            <a:r>
              <a:rPr sz="3600" spc="-110" dirty="0"/>
              <a:t> </a:t>
            </a:r>
            <a:r>
              <a:rPr sz="3600" spc="145" dirty="0"/>
              <a:t>любой</a:t>
            </a:r>
            <a:r>
              <a:rPr sz="3600" spc="-114" dirty="0"/>
              <a:t> </a:t>
            </a:r>
            <a:r>
              <a:rPr sz="3600" spc="55" dirty="0"/>
              <a:t>предмет</a:t>
            </a:r>
            <a:r>
              <a:rPr sz="3600" spc="-110" dirty="0"/>
              <a:t> </a:t>
            </a:r>
            <a:r>
              <a:rPr sz="3600" spc="150" dirty="0"/>
              <a:t>и</a:t>
            </a:r>
            <a:r>
              <a:rPr sz="3600" spc="-114" dirty="0"/>
              <a:t> </a:t>
            </a:r>
            <a:r>
              <a:rPr sz="3600" spc="-10" dirty="0"/>
              <a:t>уровенъ.</a:t>
            </a:r>
          </a:p>
          <a:p>
            <a:pPr marL="12700" marR="5080" indent="297815">
              <a:lnSpc>
                <a:spcPct val="107600"/>
              </a:lnSpc>
              <a:spcBef>
                <a:spcPts val="75"/>
              </a:spcBef>
              <a:buChar char="•"/>
              <a:tabLst>
                <a:tab pos="310515" algn="l"/>
              </a:tabLst>
            </a:pPr>
            <a:r>
              <a:rPr sz="3600" dirty="0"/>
              <a:t>B</a:t>
            </a:r>
            <a:r>
              <a:rPr sz="3600" spc="-135" dirty="0"/>
              <a:t> </a:t>
            </a:r>
            <a:r>
              <a:rPr sz="3600" dirty="0"/>
              <a:t>далънейшем</a:t>
            </a:r>
            <a:r>
              <a:rPr sz="3600" spc="-135" dirty="0"/>
              <a:t> </a:t>
            </a:r>
            <a:r>
              <a:rPr sz="3600" spc="90" dirty="0"/>
              <a:t>прототип</a:t>
            </a:r>
            <a:r>
              <a:rPr sz="3600" spc="-135" dirty="0"/>
              <a:t> </a:t>
            </a:r>
            <a:r>
              <a:rPr sz="3600" spc="290" dirty="0"/>
              <a:t>мохно</a:t>
            </a:r>
            <a:r>
              <a:rPr sz="3600" spc="-135" dirty="0"/>
              <a:t> </a:t>
            </a:r>
            <a:r>
              <a:rPr sz="3600" spc="-35" dirty="0"/>
              <a:t>развиватъ,</a:t>
            </a:r>
            <a:r>
              <a:rPr sz="3600" spc="-135" dirty="0"/>
              <a:t> </a:t>
            </a:r>
            <a:r>
              <a:rPr sz="3600" spc="45" dirty="0"/>
              <a:t>добавляя</a:t>
            </a:r>
            <a:r>
              <a:rPr sz="3600" spc="-130" dirty="0"/>
              <a:t> </a:t>
            </a:r>
            <a:r>
              <a:rPr sz="3600" spc="95" dirty="0"/>
              <a:t>новые</a:t>
            </a:r>
            <a:r>
              <a:rPr sz="3600" spc="-135" dirty="0"/>
              <a:t> </a:t>
            </a:r>
            <a:r>
              <a:rPr sz="3600" spc="50" dirty="0"/>
              <a:t>функции</a:t>
            </a:r>
            <a:r>
              <a:rPr sz="3600" spc="-135" dirty="0"/>
              <a:t> </a:t>
            </a:r>
            <a:r>
              <a:rPr sz="3600" spc="100" dirty="0"/>
              <a:t>и </a:t>
            </a:r>
            <a:r>
              <a:rPr sz="3600" spc="45" dirty="0"/>
              <a:t>интеграции.</a:t>
            </a:r>
          </a:p>
          <a:p>
            <a:pPr marL="12700" marR="400050" indent="297815">
              <a:lnSpc>
                <a:spcPct val="109200"/>
              </a:lnSpc>
              <a:buChar char="•"/>
              <a:tabLst>
                <a:tab pos="310515" algn="l"/>
              </a:tabLst>
            </a:pPr>
            <a:r>
              <a:rPr sz="3600" spc="60" dirty="0"/>
              <a:t>Призыв</a:t>
            </a:r>
            <a:r>
              <a:rPr sz="3600" spc="-100" dirty="0"/>
              <a:t> </a:t>
            </a:r>
            <a:r>
              <a:rPr sz="3600" spc="155" dirty="0"/>
              <a:t>к</a:t>
            </a:r>
            <a:r>
              <a:rPr sz="3600" spc="-95" dirty="0"/>
              <a:t> </a:t>
            </a:r>
            <a:r>
              <a:rPr sz="3600" spc="50" dirty="0"/>
              <a:t>действию:</a:t>
            </a:r>
            <a:r>
              <a:rPr sz="3600" spc="-100" dirty="0"/>
              <a:t> </a:t>
            </a:r>
            <a:r>
              <a:rPr sz="3600" spc="-85" dirty="0"/>
              <a:t>начатъ</a:t>
            </a:r>
            <a:r>
              <a:rPr sz="3600" spc="-95" dirty="0"/>
              <a:t> </a:t>
            </a:r>
            <a:r>
              <a:rPr sz="3600" spc="75" dirty="0"/>
              <a:t>внедрение</a:t>
            </a:r>
            <a:r>
              <a:rPr sz="3600" spc="-100" dirty="0"/>
              <a:t> </a:t>
            </a:r>
            <a:r>
              <a:rPr sz="3600" spc="45" dirty="0"/>
              <a:t>прототипа,</a:t>
            </a:r>
            <a:r>
              <a:rPr sz="3600" spc="-95" dirty="0"/>
              <a:t> </a:t>
            </a:r>
            <a:r>
              <a:rPr sz="3600" dirty="0"/>
              <a:t>протестироватъ</a:t>
            </a:r>
            <a:r>
              <a:rPr sz="3600" spc="-100" dirty="0"/>
              <a:t> </a:t>
            </a:r>
            <a:r>
              <a:rPr sz="3600" spc="-25" dirty="0"/>
              <a:t>на </a:t>
            </a:r>
            <a:r>
              <a:rPr sz="3600" spc="55" dirty="0"/>
              <a:t>учебных</a:t>
            </a:r>
            <a:r>
              <a:rPr sz="3600" spc="-140" dirty="0"/>
              <a:t> </a:t>
            </a:r>
            <a:r>
              <a:rPr sz="3600" spc="50" dirty="0"/>
              <a:t>проектах</a:t>
            </a:r>
            <a:r>
              <a:rPr sz="3600" spc="-140" dirty="0"/>
              <a:t> </a:t>
            </a:r>
            <a:r>
              <a:rPr sz="3600" spc="150" dirty="0"/>
              <a:t>и</a:t>
            </a:r>
            <a:r>
              <a:rPr sz="3600" spc="-140" dirty="0"/>
              <a:t> </a:t>
            </a:r>
            <a:r>
              <a:rPr sz="3600" spc="-30" dirty="0"/>
              <a:t>собратъ</a:t>
            </a:r>
            <a:r>
              <a:rPr sz="3600" spc="-140" dirty="0"/>
              <a:t> </a:t>
            </a:r>
            <a:r>
              <a:rPr sz="3600" spc="70" dirty="0"/>
              <a:t>обратную</a:t>
            </a:r>
            <a:r>
              <a:rPr sz="3600" spc="-140" dirty="0"/>
              <a:t> </a:t>
            </a:r>
            <a:r>
              <a:rPr sz="3600" spc="-10" dirty="0"/>
              <a:t>связъ.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358</Words>
  <Application>Microsoft Office PowerPoint</Application>
  <PresentationFormat>Произвольный</PresentationFormat>
  <Paragraphs>87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Microsoft Sans Serif</vt:lpstr>
      <vt:lpstr>Times New Roman</vt:lpstr>
      <vt:lpstr>Office Theme</vt:lpstr>
      <vt:lpstr>Автоматизированный исследовательский агент</vt:lpstr>
      <vt:lpstr>Содержание</vt:lpstr>
      <vt:lpstr>Проблема и целъ</vt:lpstr>
      <vt:lpstr>Актуальность и тренды</vt:lpstr>
      <vt:lpstr>Концепция проекта</vt:lpstr>
      <vt:lpstr> Схема работы</vt:lpstr>
      <vt:lpstr>Презентация PowerPoint</vt:lpstr>
      <vt:lpstr>Возможности и преимущества</vt:lpstr>
      <vt:lpstr>Проблемы и ограничения</vt:lpstr>
      <vt:lpstr>Анализ конкурентов</vt:lpstr>
      <vt:lpstr>Потенциал развития</vt:lpstr>
      <vt:lpstr>План реализации</vt:lpstr>
      <vt:lpstr>Бюджет проекта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Автоматизированный исследовательский</dc:title>
  <cp:lastModifiedBy>RePack by Diakov</cp:lastModifiedBy>
  <cp:revision>6</cp:revision>
  <dcterms:created xsi:type="dcterms:W3CDTF">2026-04-20T19:36:47Z</dcterms:created>
  <dcterms:modified xsi:type="dcterms:W3CDTF">2026-04-20T22:02:59Z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2026-04-20T00:00:00Z</vt:filetime>
  </property>
  <property fmtid="{D5CDD505-2E9C-101B-9397-08002B2CF9AE}" pid="4" name="Creator">
    <vt:lpwstr>SUPA</vt:lpwstr>
  </property>
  <property fmtid="{D5CDD505-2E9C-101B-9397-08002B2CF9AE}" pid="5" name="Producer">
    <vt:lpwstr>SUPA</vt:lpwstr>
  </property>
  <property fmtid="{D5CDD505-2E9C-101B-9397-08002B2CF9AE}" pid="6" name="LastSaved">
    <vt:filetime>2026-04-20T00:00:00Z</vt:filetime>
  </property>
</Properties>
</file>